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Model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97.4</c:v>
                </c:pt>
                <c:pt idx="1">
                  <c:v>94.1</c:v>
                </c:pt>
                <c:pt idx="2">
                  <c:v>91.8</c:v>
                </c:pt>
                <c:pt idx="3">
                  <c:v>92.9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AC-C24E-9EC7-2A31E7BA03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Naïve Bayes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91.2</c:v>
                </c:pt>
                <c:pt idx="1">
                  <c:v>82.5</c:v>
                </c:pt>
                <c:pt idx="2">
                  <c:v>88.3</c:v>
                </c:pt>
                <c:pt idx="3">
                  <c:v>85.3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AC-C24E-9EC7-2A31E7BA03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474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2743200" cy="2743200"/>
          </a:xfrm>
          <a:prstGeom prst="ellipse">
            <a:avLst/>
          </a:prstGeom>
          <a:solidFill>
            <a:srgbClr val="0D2235"/>
          </a:solidFill>
          <a:ln w="12700">
            <a:solidFill>
              <a:srgbClr val="0D22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164592" cy="2377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“Money Mule” Detection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E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Banking Infrastructure from Financial Crimes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7315200" cy="91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BDDF0"/>
                </a:solidFill>
              </a:rPr>
              <a:t>Sharvani 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BDDF0"/>
                </a:solidFill>
              </a:rPr>
              <a:t>SRN: PES1PG25CA201  |  Banking &amp; Finance – Section 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BDDF0"/>
                </a:solidFill>
              </a:rPr>
              <a:t>SDG 9 – Industry, Innovation and Infrastructure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480560"/>
            <a:ext cx="201168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480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AIML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FAFE"/>
                </a:solidFill>
              </a:rPr>
              <a:t>AI-Driven Money Mule Detection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CFE8"/>
                </a:solidFill>
              </a:rPr>
              <a:t>Sharvani M | PES1PG25CA201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Data Preprocessing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0972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2588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25880"/>
            <a:ext cx="384048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2588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 Loading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6733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Loaded PaySim CSV (6.36M rows, 11 cols) using pandas read_csv(). Verified shape and column dtypes.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51460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14600"/>
            <a:ext cx="384048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1460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Handling Missing Values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8620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Checked isnull().sum(). Dataset is synthetic — no nulls found; documented this as a baseline check.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70332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03320"/>
            <a:ext cx="384048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70332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776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Feature Selection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0507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Selected: amount, oldbalanceOrg, newbalanceOrig, oldbalanceDest, newbalanceDest, isFraud. Dropped name columns (nameDest, nameOrig).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32588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325880"/>
            <a:ext cx="384048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32588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Encoding Categorical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16733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Encoded 'type' column using LabelEncoder (TRANSFER=4, CASH_OUT=1, etc.) for numeric model input.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51460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514600"/>
            <a:ext cx="384048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51460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Class Imbalance Handling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28620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Fraud=8213 (~0.13%) vs Non-fraud=6.35M. Applied SMOTE / under-sampling to balance classes for supervised models.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70332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703320"/>
            <a:ext cx="384048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70332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12080" y="3776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Train-Test Split &amp; Scaling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40507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80/20 split (train_test_split, random_state=42). Applied StandardScaler to normalize feature distributions.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FAFE"/>
                </a:solidFill>
              </a:rPr>
              <a:t>AI-Driven Money Mule Detection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CFE8"/>
                </a:solidFill>
              </a:rPr>
              <a:t>Sharvani M | PES1PG25CA201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Model Training: Logistic Regression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0972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9844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98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Supervised Model #1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41148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8105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37490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Models probability of fraud using the sigmoid function: P(y=1) = 1 / (1 + e^(-z))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Linear combination: z = β₀ + β₁·amount + β₂·balance_diff + ...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Decision threshold: if P ≥ 0.5 → Fraud (class 1)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Regularisation (C parameter) prevents overfitting on large dataset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Fast training time, highly interpretable coefficients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691640"/>
            <a:ext cx="41148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691640"/>
            <a:ext cx="41148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691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FAFE"/>
                </a:solidFill>
              </a:rPr>
              <a:t>Python Implementation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121408"/>
            <a:ext cx="3977640" cy="260604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X_train_sc = scaler.fit_transform(X_train)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X_test_sc  = scaler.transform(X_test)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lr_model = LogisticRegression(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C=1.0,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solver='lbfgs',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max_iter=1000,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class_weight='balanced'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lr_model.fit(X_train_sc, y_train)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y_pred_lr = lr_model.predict(X_test_sc)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FAFE"/>
                </a:solidFill>
              </a:rPr>
              <a:t>AI-Driven Money Mule Detection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CFE8"/>
                </a:solidFill>
              </a:rPr>
              <a:t>Sharvani M | PES1PG25CA201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Model Training: Naïve Bayes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0972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9844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98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Supervised Model #2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41148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8105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37490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Based on Bayes' Theorem: P(Fraud | features) ∝ P(features | Fraud) × P(Fraud)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GaussianNB assumes features follow a normal distribution per class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'Naïve' assumption: all features are conditionally independent given the class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Works well with continuous numeric features (amount, balances)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Very fast inference — suitable for real-time transaction scoring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691640"/>
            <a:ext cx="41148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691640"/>
            <a:ext cx="41148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691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FAFE"/>
                </a:solidFill>
              </a:rPr>
              <a:t>Python Implementation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121408"/>
            <a:ext cx="3977640" cy="260604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sklearn.naive_bayes import GaussianNB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classification_report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GaussianNB for continuous features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nb_model = GaussianNB()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nb_model.fit(X_train_sc, y_train)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y_pred_nb = nb_model.predict(X_test_sc)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Probability scores for dashboard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y_prob_nb = nb_model.predict_proba(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X_test_sc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)[:, 1]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y_test, y_pred_nb))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FAFE"/>
                </a:solidFill>
              </a:rPr>
              <a:t>AI-Driven Money Mule Detection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CFE8"/>
                </a:solidFill>
              </a:rPr>
              <a:t>Sharvani M | PES1PG25CA201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Performance Evaluation Matrix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0972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98448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298448"/>
            <a:ext cx="1627632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29844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Accuracy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1752" y="157276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(TP+TN)/(TP+TN+FP+FN)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92024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</a:rPr>
              <a:t>LR: </a:t>
            </a:r>
            <a:r>
              <a:rPr lang="en-US" sz="950" b="1" dirty="0">
                <a:solidFill>
                  <a:srgbClr val="0D1B2A"/>
                </a:solidFill>
              </a:rPr>
              <a:t>97.4%
</a:t>
            </a:r>
            <a:r>
              <a:rPr lang="en-US" sz="950" b="1" dirty="0">
                <a:solidFill>
                  <a:srgbClr val="D97706"/>
                </a:solidFill>
              </a:rPr>
              <a:t>NB: </a:t>
            </a:r>
            <a:r>
              <a:rPr lang="en-US" sz="950" b="1" dirty="0">
                <a:solidFill>
                  <a:srgbClr val="0D1B2A"/>
                </a:solidFill>
              </a:rPr>
              <a:t>91.2%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84248" y="1298448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84248" y="1298448"/>
            <a:ext cx="162763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84248" y="129844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Precision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57400" y="157276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TP / (TP + FP)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29968" y="192024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</a:rPr>
              <a:t>LR: </a:t>
            </a:r>
            <a:r>
              <a:rPr lang="en-US" sz="950" b="1" dirty="0">
                <a:solidFill>
                  <a:srgbClr val="0D1B2A"/>
                </a:solidFill>
              </a:rPr>
              <a:t>94.1%
</a:t>
            </a:r>
            <a:r>
              <a:rPr lang="en-US" sz="950" b="1" dirty="0">
                <a:solidFill>
                  <a:srgbClr val="D97706"/>
                </a:solidFill>
              </a:rPr>
              <a:t>NB: </a:t>
            </a:r>
            <a:r>
              <a:rPr lang="en-US" sz="950" b="1" dirty="0">
                <a:solidFill>
                  <a:srgbClr val="0D1B2A"/>
                </a:solidFill>
              </a:rPr>
              <a:t>82.5%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39896" y="1298448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39896" y="1298448"/>
            <a:ext cx="1627632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9896" y="129844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Recall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13048" y="157276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TP / (TP + FN)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785616" y="192024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</a:rPr>
              <a:t>LR: </a:t>
            </a:r>
            <a:r>
              <a:rPr lang="en-US" sz="950" b="1" dirty="0">
                <a:solidFill>
                  <a:srgbClr val="0D1B2A"/>
                </a:solidFill>
              </a:rPr>
              <a:t>91.8%
</a:t>
            </a:r>
            <a:r>
              <a:rPr lang="en-US" sz="950" b="1" dirty="0">
                <a:solidFill>
                  <a:srgbClr val="D97706"/>
                </a:solidFill>
              </a:rPr>
              <a:t>NB: </a:t>
            </a:r>
            <a:r>
              <a:rPr lang="en-US" sz="950" b="1" dirty="0">
                <a:solidFill>
                  <a:srgbClr val="0D1B2A"/>
                </a:solidFill>
              </a:rPr>
              <a:t>88.3%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95544" y="1298448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95544" y="1298448"/>
            <a:ext cx="1627632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95544" y="129844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F1 Score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68696" y="157276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2×(P×R)/(P+R)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41264" y="192024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</a:rPr>
              <a:t>LR: </a:t>
            </a:r>
            <a:r>
              <a:rPr lang="en-US" sz="950" b="1" dirty="0">
                <a:solidFill>
                  <a:srgbClr val="0D1B2A"/>
                </a:solidFill>
              </a:rPr>
              <a:t>92.9%
</a:t>
            </a:r>
            <a:r>
              <a:rPr lang="en-US" sz="950" b="1" dirty="0">
                <a:solidFill>
                  <a:srgbClr val="D97706"/>
                </a:solidFill>
              </a:rPr>
              <a:t>NB: </a:t>
            </a:r>
            <a:r>
              <a:rPr lang="en-US" sz="950" b="1" dirty="0">
                <a:solidFill>
                  <a:srgbClr val="0D1B2A"/>
                </a:solidFill>
              </a:rPr>
              <a:t>85.3%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51192" y="1298448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51192" y="1298448"/>
            <a:ext cx="1627632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51192" y="129844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AUC-ROC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24344" y="157276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Area under ROC curve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96912" y="192024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</a:rPr>
              <a:t>LR: </a:t>
            </a:r>
            <a:r>
              <a:rPr lang="en-US" sz="950" b="1" dirty="0">
                <a:solidFill>
                  <a:srgbClr val="0D1B2A"/>
                </a:solidFill>
              </a:rPr>
              <a:t>0.981
</a:t>
            </a:r>
            <a:r>
              <a:rPr lang="en-US" sz="950" b="1" dirty="0">
                <a:solidFill>
                  <a:srgbClr val="D97706"/>
                </a:solidFill>
              </a:rPr>
              <a:t>NB: </a:t>
            </a:r>
            <a:r>
              <a:rPr lang="en-US" sz="950" b="1" dirty="0">
                <a:solidFill>
                  <a:srgbClr val="0D1B2A"/>
                </a:solidFill>
              </a:rPr>
              <a:t>0.943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" y="2679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Confusion Matrix — Logistic Regression (sample)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971800"/>
          <a:ext cx="4114800" cy="1691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Predicted: No Fraud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Predicted: Fraud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Actual: No Fraud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</a:rPr>
                        <a:t>124,830  (TN)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2400E"/>
                          </a:solidFill>
                        </a:rPr>
                        <a:t>1,642    (FP)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Actual: Fraud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2400E"/>
                          </a:solidFill>
                        </a:rPr>
                        <a:t>1,204    (FN)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</a:rPr>
                        <a:t>13,852  (TP)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" name="Chart 0"/>
          <p:cNvGraphicFramePr/>
          <p:nvPr/>
        </p:nvGraphicFramePr>
        <p:xfrm>
          <a:off x="4617720" y="2633472"/>
          <a:ext cx="42976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FAFE"/>
                </a:solidFill>
              </a:rPr>
              <a:t>AI-Driven Money Mule Detection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CFE8"/>
                </a:solidFill>
              </a:rPr>
              <a:t>Sharvani M | PES1PG25CA201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— Why Each Matters for Fraud Detection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0972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2588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25880"/>
            <a:ext cx="73152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80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6550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Overall correctness. High baseline but misleading with imbalanced fraud data (0.13% fraud).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9144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173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📌 LR's 97.4% accuracy looks great, but we must check Recall too.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07568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75688"/>
            <a:ext cx="7315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Precision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404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Of all accounts flagged as mules, how many truly are? Low precision → too many innocent customers blocked.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167128"/>
            <a:ext cx="9144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16712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📌 LR Precision 94.1% means only 1 in 17 flags is a false alarm.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82549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25496"/>
            <a:ext cx="73152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80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Recall (Sensitivity)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154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Of all actual mules, how many did we catch? Low recall → criminals escape detection.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916936"/>
            <a:ext cx="9144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169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📌 LR Recall 91.8% — 8.2% of real mules still evade. NB catches slightly more (88.3%).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57530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575304"/>
            <a:ext cx="73152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30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F1 Score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904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Harmonic mean of Precision &amp; Recall — the best single metric for imbalanced fraud datasets.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666744"/>
            <a:ext cx="9144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66674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📌 LR F1 92.9% &gt; NB F1 85.3% → LR is the better choice overall.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432511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4325112"/>
            <a:ext cx="73152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3799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AUC-ROC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654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Measures model's ability to distinguish fraud vs. non-fraud across all thresholds.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4416552"/>
            <a:ext cx="9144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4165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📌 LR AUC 0.981 ≈ near-perfect discrimination. A score &gt;0.95 is deployment-ready.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FAFE"/>
                </a:solidFill>
              </a:rPr>
              <a:t>Preprocessing: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74520" y="111556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SMOTE balancing + StandardScaler were critical to prevent model bias toward the majority class.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841248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28800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928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FAFE"/>
                </a:solidFill>
              </a:rPr>
              <a:t>Logistic Regression: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189280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Best overall performer — Accuracy 97.4%, F1 92.9%, AUC 0.981. Interpretable &amp; deployment-ready.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841248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06040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700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FAFE"/>
                </a:solidFill>
              </a:rPr>
              <a:t>Naïve Bayes: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74520" y="267004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Faster inference, strong recall (88.3%) — useful as a lightweight real-time scoring fallback.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841248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83280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472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FAFE"/>
                </a:solidFill>
              </a:rPr>
              <a:t>Evaluation Matrix: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74520" y="344728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F1 Score &amp; AUC-ROC are the primary metrics; accuracy alone is insufficient for fraud detection.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60520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245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FAFE"/>
                </a:solidFill>
              </a:rPr>
              <a:t>Next Step: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74520" y="422452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Integrate best model (LR) into Streamlit dashboard for live CSV upload and risk scoring.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</Words>
  <Application>Microsoft Macintosh PowerPoint</Application>
  <PresentationFormat>On-screen Show (16:9)</PresentationFormat>
  <Paragraphs>144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Money Mule Detection</dc:title>
  <dc:subject>PptxGenJS Presentation</dc:subject>
  <dc:creator>PptxGenJS</dc:creator>
  <cp:lastModifiedBy>Sharvani M</cp:lastModifiedBy>
  <cp:revision>1</cp:revision>
  <dcterms:created xsi:type="dcterms:W3CDTF">2026-04-22T03:48:44Z</dcterms:created>
  <dcterms:modified xsi:type="dcterms:W3CDTF">2026-04-22T15:35:44Z</dcterms:modified>
</cp:coreProperties>
</file>