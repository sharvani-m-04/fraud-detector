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2"/>
    <p:sldId id="350" r:id="rId3"/>
    <p:sldId id="354" r:id="rId4"/>
    <p:sldId id="351" r:id="rId5"/>
    <p:sldId id="352" r:id="rId6"/>
    <p:sldId id="353" r:id="rId7"/>
    <p:sldId id="31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sit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602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8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C237-22B3-3C9C-B9F9-74E31EBDF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3B38E-596F-C7C0-F554-1FF36ED2F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4215D-D3CA-BFA9-26C4-9CBE6EB0E54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61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0A56-9E76-BAA5-2E6E-CE765E6B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00FEC-B126-B7B4-621E-D0664947D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D1387-AB03-944A-4C67-3F56BB3B749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7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6E3C-8E30-B94F-80DC-82F18B35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C5330-EEA0-9446-8830-137A5A5ED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A8F1C-5E97-C18E-51BF-1D3F77EC5B5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17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BD4F-71AC-84DC-A7D7-669DA1A2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06874-DE92-67DE-A53D-746627409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AEDC7-82BF-F224-57DB-E4796E04E09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09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1CC69-45D1-513A-3F43-82A7C322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D29CA-066D-C1C7-3BAC-3F8E0D87A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240CA-E141-D387-0AF7-0D695F94E39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6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>
            <a:cxnSpLocks/>
          </p:cNvCxnSpPr>
          <p:nvPr/>
        </p:nvCxnSpPr>
        <p:spPr>
          <a:xfrm>
            <a:off x="4181928" y="2770577"/>
            <a:ext cx="7322500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81928" y="2988643"/>
            <a:ext cx="4250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SRN : PES1PG25CA201 </a:t>
            </a:r>
            <a:endParaRPr lang="en-IN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4181928" y="3487422"/>
            <a:ext cx="4250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Name</a:t>
            </a:r>
            <a:r>
              <a:rPr lang="en-US" sz="2000" b="1" dirty="0"/>
              <a:t>: </a:t>
            </a:r>
            <a:r>
              <a:rPr lang="en-US" sz="2400" b="1" dirty="0"/>
              <a:t>Sharvani M </a:t>
            </a:r>
            <a:endParaRPr lang="en-IN" sz="2400" b="1" dirty="0"/>
          </a:p>
        </p:txBody>
      </p:sp>
      <p:grpSp>
        <p:nvGrpSpPr>
          <p:cNvPr id="23" name="Group 22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4049877" y="1040063"/>
            <a:ext cx="78524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/>
                </a:solidFill>
              </a:rPr>
              <a:t>AI-Driven “Money Mule” Detection: Protecting Banking Infrastructure from Financial Crimes </a:t>
            </a:r>
            <a:endParaRPr lang="en-IN" sz="3200" b="1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1886067"/>
            <a:ext cx="2286000" cy="37531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5BFDB9-7898-0C99-2B65-4373F301D6DB}"/>
              </a:ext>
            </a:extLst>
          </p:cNvPr>
          <p:cNvSpPr/>
          <p:nvPr/>
        </p:nvSpPr>
        <p:spPr>
          <a:xfrm>
            <a:off x="4181928" y="4095186"/>
            <a:ext cx="78524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Project Domain: Banking and Finance(Section D)</a:t>
            </a:r>
            <a:endParaRPr lang="en-IN" sz="2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13C55E-8772-6FA2-9445-F51557127FC5}"/>
              </a:ext>
            </a:extLst>
          </p:cNvPr>
          <p:cNvSpPr/>
          <p:nvPr/>
        </p:nvSpPr>
        <p:spPr>
          <a:xfrm>
            <a:off x="4181928" y="4740064"/>
            <a:ext cx="46623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Goal: SDG 9- Industry, Innovation and Infrastructure </a:t>
            </a:r>
            <a:endParaRPr lang="en-IN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1A4F1-6604-EC8D-938B-93B7D1F8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251FB2-999F-55CC-4BB5-3848E22526C0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Abstract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19B87-3837-FB58-D3F6-55531456534D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2E2ACE-9F4A-51A8-C68E-F9A614701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E462E6B9-EFDF-B39D-F5CF-F02D1B31858F}"/>
              </a:ext>
            </a:extLst>
          </p:cNvPr>
          <p:cNvSpPr txBox="1"/>
          <p:nvPr/>
        </p:nvSpPr>
        <p:spPr>
          <a:xfrm>
            <a:off x="494641" y="1471452"/>
            <a:ext cx="9840202" cy="44947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Detects "Money Mules"—individuals who move illegal funds through legitimate accounts.</a:t>
            </a:r>
            <a:endParaRPr lang="en-US" sz="2400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Uses large-scale transaction logs(csv) to identify suspicious </a:t>
            </a:r>
            <a:r>
              <a:rPr lang="en-US" sz="2400" dirty="0" err="1">
                <a:cs typeface="Times New Roman" panose="02020603050405020304" charset="0"/>
              </a:rPr>
              <a:t>behaviour</a:t>
            </a:r>
            <a:r>
              <a:rPr lang="en-US" sz="2400" dirty="0">
                <a:cs typeface="Times New Roman" panose="02020603050405020304" charset="0"/>
              </a:rPr>
              <a:t>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Applies Unsupervised Learning to find hidden patterns without needing a pre-labeled fraud data.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Clusters accounts into categories: Normal, High-activity, and Suspicious(Mule like).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Helps banks prevent money laundering and strengthens financial infrastructure.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Includes a </a:t>
            </a:r>
            <a:r>
              <a:rPr lang="en-US" sz="2400" dirty="0" err="1">
                <a:cs typeface="Times New Roman" panose="02020603050405020304" charset="0"/>
              </a:rPr>
              <a:t>Streamlit</a:t>
            </a:r>
            <a:r>
              <a:rPr lang="en-US" sz="2400" dirty="0">
                <a:cs typeface="Times New Roman" panose="02020603050405020304" charset="0"/>
              </a:rPr>
              <a:t> Dashboard for real-time risk scoring.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AC51183D-39D7-C8BD-52E9-641E1A071EE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333FB6-F32E-E0CB-3297-9E8762B6437D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88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12AA9-220E-1E3B-7801-12B96B003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035057-2341-7C38-A582-E704DFE4B4C8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Abstract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5773C6-F2A3-C49B-098E-524552201E52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919BF0-74DD-1C68-C462-DC1142D7A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B594C0DD-1CD7-2329-4A3F-933A794C4ACB}"/>
              </a:ext>
            </a:extLst>
          </p:cNvPr>
          <p:cNvSpPr txBox="1"/>
          <p:nvPr/>
        </p:nvSpPr>
        <p:spPr>
          <a:xfrm>
            <a:off x="243191" y="1835891"/>
            <a:ext cx="10091651" cy="18355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Criminals use real bank accounts (mules) to "layer" and hide stolen money.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Traditional rule-based systems are too slow and easy to bypass.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Manual monitoring of millions of transactions is impossible for humans.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Banks need an automated, data-driven way to flag high-risk accounts.</a:t>
            </a:r>
            <a:endParaRPr lang="en-US" sz="2400" dirty="0">
              <a:cs typeface="Times New Roman" panose="02020603050405020304" charset="0"/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D589CBCE-0518-D054-C7F5-3A06A45B562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7BC44C-A860-D6B0-F6CB-02D00CA1A754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9FF2F9-DF2F-9004-470B-C0766E988762}"/>
              </a:ext>
            </a:extLst>
          </p:cNvPr>
          <p:cNvSpPr txBox="1"/>
          <p:nvPr/>
        </p:nvSpPr>
        <p:spPr>
          <a:xfrm>
            <a:off x="361370" y="1343448"/>
            <a:ext cx="37339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2">
                    <a:lumMod val="75000"/>
                  </a:schemeClr>
                </a:solidFill>
              </a:rPr>
              <a:t>Problem Statement :</a:t>
            </a:r>
          </a:p>
        </p:txBody>
      </p:sp>
    </p:spTree>
    <p:extLst>
      <p:ext uri="{BB962C8B-B14F-4D97-AF65-F5344CB8AC3E}">
        <p14:creationId xmlns:p14="http://schemas.microsoft.com/office/powerpoint/2010/main" val="50538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246B-BF2F-742D-9C09-F3489173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5E7888-E4C1-F92E-52D9-6D0C8B70E3C2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Dataset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BBEBE4-41BD-7C0A-F900-D93D387A1AC7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5BEB55-3C51-D9DF-1F40-B79B3E269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23486610-E4FC-3847-C585-79135FB4C4DD}"/>
              </a:ext>
            </a:extLst>
          </p:cNvPr>
          <p:cNvSpPr txBox="1"/>
          <p:nvPr/>
        </p:nvSpPr>
        <p:spPr>
          <a:xfrm>
            <a:off x="494641" y="1471450"/>
            <a:ext cx="9840202" cy="40515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Source URL: </a:t>
            </a:r>
            <a:r>
              <a:rPr lang="en-IN" sz="2400" dirty="0"/>
              <a:t>https://</a:t>
            </a:r>
            <a:r>
              <a:rPr lang="en-IN" sz="2400" dirty="0" err="1"/>
              <a:t>www.kaggle.com</a:t>
            </a:r>
            <a:r>
              <a:rPr lang="en-IN" sz="2400" dirty="0"/>
              <a:t>/datasets/</a:t>
            </a:r>
            <a:r>
              <a:rPr lang="en-IN" sz="2400" dirty="0" err="1"/>
              <a:t>ealaxi</a:t>
            </a:r>
            <a:r>
              <a:rPr lang="en-IN" sz="2400" dirty="0"/>
              <a:t>/paysim1</a:t>
            </a:r>
            <a:endParaRPr lang="en-US" sz="2400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Dataset Name: </a:t>
            </a:r>
            <a:r>
              <a:rPr lang="en-IN" sz="2400" dirty="0" err="1"/>
              <a:t>PaySim</a:t>
            </a:r>
            <a:r>
              <a:rPr lang="en-IN" sz="2400" dirty="0"/>
              <a:t> Synthetic Financial Dataset</a:t>
            </a:r>
            <a:endParaRPr lang="en-US" sz="2400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Size / Shape: </a:t>
            </a:r>
            <a:r>
              <a:rPr lang="en-IN" sz="2400" dirty="0"/>
              <a:t>6,362,620 rows, 11 columns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Simple description about the dataset: </a:t>
            </a:r>
          </a:p>
          <a:p>
            <a:pPr marL="914400" lvl="1" indent="-457200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en-IN" sz="2400" dirty="0"/>
              <a:t>A synthetic CSV dataset simulating mobile money transactions.</a:t>
            </a:r>
          </a:p>
          <a:p>
            <a:pPr marL="914400" lvl="1" indent="-457200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en-IN" sz="2400" dirty="0"/>
              <a:t>Includes transaction types like </a:t>
            </a:r>
            <a:r>
              <a:rPr lang="en-IN" sz="2400" b="1" dirty="0"/>
              <a:t>TRANSFER</a:t>
            </a:r>
            <a:r>
              <a:rPr lang="en-IN" sz="2400" dirty="0"/>
              <a:t> and </a:t>
            </a:r>
            <a:r>
              <a:rPr lang="en-IN" sz="2400" b="1" dirty="0"/>
              <a:t>CASH_OUT</a:t>
            </a:r>
            <a:r>
              <a:rPr lang="en-IN" sz="2400" dirty="0"/>
              <a:t> (key for mule detection).</a:t>
            </a:r>
          </a:p>
          <a:p>
            <a:pPr marL="914400" lvl="1" indent="-457200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en-IN" sz="2400" dirty="0"/>
              <a:t>Features: amount, </a:t>
            </a:r>
            <a:r>
              <a:rPr lang="en-IN" sz="2400" dirty="0" err="1"/>
              <a:t>oldbalanceOrg</a:t>
            </a:r>
            <a:r>
              <a:rPr lang="en-IN" sz="2400" dirty="0"/>
              <a:t> (sender balance before), </a:t>
            </a:r>
            <a:r>
              <a:rPr lang="en-IN" sz="2400" dirty="0" err="1"/>
              <a:t>newbalanceOrig</a:t>
            </a:r>
            <a:r>
              <a:rPr lang="en-IN" sz="2400" dirty="0"/>
              <a:t> (sender balance after), </a:t>
            </a:r>
            <a:r>
              <a:rPr lang="en-IN" sz="2400" dirty="0" err="1"/>
              <a:t>nameDest</a:t>
            </a:r>
            <a:r>
              <a:rPr lang="en-IN" sz="2400" dirty="0"/>
              <a:t> (receiver ID).</a:t>
            </a:r>
            <a:endParaRPr lang="en-US" sz="2400" dirty="0">
              <a:cs typeface="Times New Roman" panose="02020603050405020304" charset="0"/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F58FD939-7943-A729-0D08-7BC35DCB506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E22C4B-22A6-63B2-5E38-EC125E2B3C06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200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03F5-D5A0-717A-136F-3A42CEC9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120C3B-2131-DEBF-467A-139D39121C6A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Dataset Snapshot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94E3C-205B-42F1-42E0-5C1ADC7C885B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9CF9AA-DF11-7270-45BC-D755ABEFD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B22161C6-41A0-12A1-7A4C-24717E237D8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873E39-DA4F-0C69-8C0E-ACA5B270B292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069C144-06CF-044F-F878-A344DDA38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83" y="1507790"/>
            <a:ext cx="7580733" cy="51167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C48BF5-501B-DF9E-617E-46B8D5D965D4}"/>
              </a:ext>
            </a:extLst>
          </p:cNvPr>
          <p:cNvSpPr txBox="1"/>
          <p:nvPr/>
        </p:nvSpPr>
        <p:spPr>
          <a:xfrm>
            <a:off x="598883" y="1144842"/>
            <a:ext cx="1443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Raw Data</a:t>
            </a:r>
          </a:p>
        </p:txBody>
      </p:sp>
    </p:spTree>
    <p:extLst>
      <p:ext uri="{BB962C8B-B14F-4D97-AF65-F5344CB8AC3E}">
        <p14:creationId xmlns:p14="http://schemas.microsoft.com/office/powerpoint/2010/main" val="51026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3BDF-7B20-58FA-24C9-7FFB4B93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8FE261-9FEF-CC07-20A2-445EF2020F12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A2A4A-EDA7-B9F5-7C33-8489FF3D3C93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736D9-8354-E12C-AB0F-16712A56D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62D64CA4-34E4-BCD9-22CA-AE4AB6092FB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731B4A-22E7-804B-9EE1-E1F83D409AD5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>
            <a:extLst>
              <a:ext uri="{FF2B5EF4-FFF2-40B4-BE49-F238E27FC236}">
                <a16:creationId xmlns:a16="http://schemas.microsoft.com/office/drawing/2014/main" id="{6D4815FD-3D35-4F25-CA47-51F1E455D299}"/>
              </a:ext>
            </a:extLst>
          </p:cNvPr>
          <p:cNvSpPr txBox="1"/>
          <p:nvPr/>
        </p:nvSpPr>
        <p:spPr>
          <a:xfrm>
            <a:off x="494641" y="1471450"/>
            <a:ext cx="9840202" cy="4937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Unsupervised Learning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Times New Roman" panose="02020603050405020304" charset="0"/>
              </a:rPr>
              <a:t>What are you trying to do: </a:t>
            </a:r>
            <a:r>
              <a:rPr lang="en-IN" sz="2400" dirty="0"/>
              <a:t>Clustering and Anomaly Detection (grouping transactions by </a:t>
            </a:r>
            <a:r>
              <a:rPr lang="en-IN" sz="2400" dirty="0" err="1"/>
              <a:t>behavior</a:t>
            </a:r>
            <a:r>
              <a:rPr lang="en-IN" sz="2400" dirty="0"/>
              <a:t> to isolate suspicious "outliers").</a:t>
            </a:r>
            <a:endParaRPr lang="en-US" sz="2400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 </a:t>
            </a:r>
            <a:r>
              <a:rPr lang="en-US" sz="2400" b="1" dirty="0">
                <a:cs typeface="Times New Roman" panose="02020603050405020304" charset="0"/>
              </a:rPr>
              <a:t>What is your choice of Algorithms (tentative) : </a:t>
            </a:r>
          </a:p>
          <a:p>
            <a:pPr marL="914400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IN" sz="2400" dirty="0"/>
              <a:t>K-Means Clustering (to group </a:t>
            </a:r>
            <a:r>
              <a:rPr lang="en-IN" sz="2400" dirty="0" err="1"/>
              <a:t>behavioral</a:t>
            </a:r>
            <a:r>
              <a:rPr lang="en-IN" sz="2400" dirty="0"/>
              <a:t> patterns).</a:t>
            </a:r>
          </a:p>
          <a:p>
            <a:pPr marL="914400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IN" sz="2400" dirty="0"/>
              <a:t>Isolation Forest (to detect anomalies/mules).</a:t>
            </a:r>
          </a:p>
          <a:p>
            <a:pPr marL="914400" lvl="1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IN" sz="2400" dirty="0"/>
              <a:t>Elbow Method (to find the optimal number of clusters).</a:t>
            </a:r>
            <a:endParaRPr lang="en-US" sz="2400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Times New Roman" panose="02020603050405020304" charset="0"/>
              </a:rPr>
              <a:t>UI Tool (tentative): </a:t>
            </a:r>
            <a:r>
              <a:rPr lang="en-IN" sz="2400" dirty="0" err="1"/>
              <a:t>Streamlit</a:t>
            </a:r>
            <a:r>
              <a:rPr lang="en-IN" sz="2400" dirty="0"/>
              <a:t> (for an interactive dashboard to upload CSVs and view results).</a:t>
            </a:r>
            <a:endParaRPr lang="en-US" sz="2400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Times New Roman" panose="02020603050405020304" charset="0"/>
              </a:rPr>
              <a:t>Cloud Platform (tentative): </a:t>
            </a:r>
            <a:r>
              <a:rPr lang="en-IN" sz="2400" dirty="0" err="1"/>
              <a:t>Streamlit</a:t>
            </a:r>
            <a:r>
              <a:rPr lang="en-IN" sz="2400" dirty="0"/>
              <a:t> Community Cloud (for easy, free web hosting).</a:t>
            </a:r>
            <a:endParaRPr lang="en-US" sz="2400" dirty="0"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91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4287946" y="3935312"/>
            <a:ext cx="4581449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5223612" y="3015532"/>
            <a:ext cx="27401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60" y="1702366"/>
            <a:ext cx="2306319" cy="35484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362</Words>
  <Application>Microsoft Macintosh PowerPoint</Application>
  <PresentationFormat>Widescreen</PresentationFormat>
  <Paragraphs>43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Sharvani M</cp:lastModifiedBy>
  <cp:revision>52</cp:revision>
  <dcterms:created xsi:type="dcterms:W3CDTF">2024-06-03T11:28:00Z</dcterms:created>
  <dcterms:modified xsi:type="dcterms:W3CDTF">2026-03-20T17:31:42Z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2D8CA44053184DF99CAFC51225B126E6_13</vt:lpwstr>
  </property>
  <property fmtid="{D5CDD505-2E9C-101B-9397-08002B2CF9AE}" pid="3" name="KSOProductBuildVer">
    <vt:lpwstr>1033-12.2.0.16909</vt:lpwstr>
  </property>
</Properties>
</file>